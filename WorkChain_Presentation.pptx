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0B981"/>
                </a:solidFill>
              </a:defRPr>
            </a:pPr>
            <a:r>
              <a:t>⚡ WorkChain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Gamified Decentralized Productivity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CA3AF"/>
                </a:solidFill>
              </a:defRPr>
            </a:pPr>
            <a:r>
              <a:t>Build on Aptos Hackathon - IBW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4D399"/>
                </a:solidFill>
              </a:defRPr>
            </a:pPr>
            <a:r>
              <a:t>Make Work Fun Again 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🔴 The Problem: Work is Broken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2194560"/>
          </a:xfrm>
          <a:prstGeom prst="roundRect">
            <a:avLst/>
          </a:prstGeom>
          <a:solidFill>
            <a:srgbClr val="1A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🔒 Data Silos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</a:defRPr>
            </a:pPr>
            <a:r>
              <a:t>Your hard work is locked in centralized apps (Slack, Jira, GitHub)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486400" cy="2194560"/>
          </a:xfrm>
          <a:prstGeom prst="roundRect">
            <a:avLst/>
          </a:prstGeom>
          <a:solidFill>
            <a:srgbClr val="1A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087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📉 Zero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</a:defRPr>
            </a:pPr>
            <a:r>
              <a:t>Remote work feels lonely and unrewarding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5486400" cy="2194560"/>
          </a:xfrm>
          <a:prstGeom prst="roundRect">
            <a:avLst/>
          </a:prstGeom>
          <a:solidFill>
            <a:srgbClr val="1A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0690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👁️ Surveillance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</a:defRPr>
            </a:pPr>
            <a:r>
              <a:t>Traditional trackers spy on you with screenshots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931920"/>
            <a:ext cx="5486400" cy="2194560"/>
          </a:xfrm>
          <a:prstGeom prst="roundRect">
            <a:avLst/>
          </a:prstGeom>
          <a:solidFill>
            <a:srgbClr val="1A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0690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💸 No Ownership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48056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</a:defRPr>
            </a:pPr>
            <a:r>
              <a:t>You generate data, companies monetize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0B981"/>
                </a:solidFill>
              </a:defRPr>
            </a:pPr>
            <a:r>
              <a:t>🟢 The Solution: WorkChain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9CA3AF"/>
                </a:solidFill>
              </a:defRPr>
            </a:pPr>
            <a:r>
              <a:t>A Privacy-First, Gamified Productivity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486400" cy="2011680"/>
          </a:xfrm>
          <a:prstGeom prst="roundRect">
            <a:avLst/>
          </a:prstGeom>
          <a:solidFill>
            <a:srgbClr val="1A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🛡️ Own Your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</a:defRPr>
            </a:pPr>
            <a:r>
              <a:t>Encrypted &amp; stored on Shelby Protocol - you control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486400" cy="2011680"/>
          </a:xfrm>
          <a:prstGeom prst="roundRect">
            <a:avLst/>
          </a:prstGeom>
          <a:solidFill>
            <a:srgbClr val="1A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659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🎮 Gamify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</a:defRPr>
            </a:pPr>
            <a:r>
              <a:t>Earn XP, maintain Streaks, unlock Badges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5486400" cy="2011680"/>
          </a:xfrm>
          <a:prstGeom prst="roundRect">
            <a:avLst/>
          </a:prstGeom>
          <a:solidFill>
            <a:srgbClr val="1A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💰 Get Rewarded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</a:defRPr>
            </a:pPr>
            <a:r>
              <a:t>Monthly APT rewards for top performers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114800"/>
            <a:ext cx="5486400" cy="2011680"/>
          </a:xfrm>
          <a:prstGeom prst="roundRect">
            <a:avLst/>
          </a:prstGeom>
          <a:solidFill>
            <a:srgbClr val="1A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25196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⛓️ Verify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6634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</a:defRPr>
            </a:pPr>
            <a:r>
              <a:t>On-chain 'Proof of Work' on Aptos blockchain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🎯 Hackathon Tracks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2560320"/>
          </a:xfrm>
          <a:prstGeom prst="roundRect">
            <a:avLst/>
          </a:prstGeom>
          <a:solidFill>
            <a:srgbClr val="1A2F23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1️⃣ Track 4: Shelby Consumer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508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1F17"/>
                </a:solidFill>
              </a:defRPr>
            </a:pPr>
            <a:r>
              <a:t>PRIMARY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Why? We use Shelby as a Compliance Layer for personal productivity data.</a:t>
            </a:r>
          </a:p>
          <a:p>
            <a:br/>
            <a:pPr>
              <a:defRPr sz="1400">
                <a:solidFill>
                  <a:srgbClr val="9CA3AF"/>
                </a:solidFill>
              </a:defRPr>
            </a:pPr>
            <a:r>
              <a:t>Tech: Encrypted 'Daily Blobs' stored on decentralized nodes, user-owned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486400" cy="2560320"/>
          </a:xfrm>
          <a:prstGeom prst="roundRect">
            <a:avLst/>
          </a:prstGeom>
          <a:solidFill>
            <a:srgbClr val="1A2F23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D399"/>
                </a:solidFill>
              </a:defRPr>
            </a:pPr>
            <a:r>
              <a:t>2️⃣ Track 3: Consumer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Why? A fun, daily-use app for millions of remote workers worldwide.</a:t>
            </a:r>
          </a:p>
          <a:p>
            <a:br/>
            <a:pPr>
              <a:defRPr sz="1400">
                <a:solidFill>
                  <a:srgbClr val="9CA3AF"/>
                </a:solidFill>
              </a:defRPr>
            </a:pPr>
            <a:r>
              <a:t>Tech: Beautiful Electron App + Gamified Leaderboard with real rewards.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👥 Who Benefits?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754880"/>
            <a:ext cx="5486400" cy="1645920"/>
          </a:xfrm>
          <a:prstGeom prst="roundRect">
            <a:avLst/>
          </a:prstGeom>
          <a:solidFill>
            <a:srgbClr val="1A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8920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👷 Employees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</a:defRPr>
            </a:pPr>
            <a:r>
              <a:t>Earn APT, own your data, gamify work, privacy guaranteed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754880"/>
            <a:ext cx="5486400" cy="1645920"/>
          </a:xfrm>
          <a:prstGeom prst="roundRect">
            <a:avLst/>
          </a:prstGeom>
          <a:solidFill>
            <a:srgbClr val="1A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8920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🏢 Employers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3035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CA3AF"/>
                </a:solidFill>
              </a:defRPr>
            </a:pPr>
            <a:r>
              <a:t>Boost productivity, automated payroll, trustless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🚀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📊 Smart Auto-Tracking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💻 Coding: VS Code, Terminal, IntelliJ (1.5x XP)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📞 Meetings: Zoom, Meet, Slack (1.0x XP)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🌐 Research: Docs, StackOverflow (0.8x XP)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❌ Idle/Entertainment: Filtered out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B981"/>
                </a:solidFill>
              </a:defRPr>
            </a:pPr>
            <a:r>
              <a:t>🏆 Gamification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📈 Global Leaderboard: Verified rankings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🔥 Streaks: Don't break the chain!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🏅 Badges: Night Owl, Deep Worker, Early Bird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⭐ XP System: Level up your career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🔒 Privacy-First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66344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All processing happens locally on your machine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AES-256 encryption before any data leaves your device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No screenshots, no keyloggers, no surveillance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600">
                <a:solidFill>
                  <a:srgbClr val="9CA3AF"/>
                </a:solidFill>
              </a:defRPr>
            </a:pPr>
            <a:r>
              <a:t>Only your score is shared - details stay private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💎 Shelby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10B981"/>
                </a:solidFill>
              </a:defRPr>
            </a:pPr>
            <a:r>
              <a:t>Solving the Privacy vs. Verification Paradox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60320" cy="2011680"/>
          </a:xfrm>
          <a:prstGeom prst="roundRect">
            <a:avLst/>
          </a:prstGeom>
          <a:solidFill>
            <a:srgbClr val="1A2F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D1F17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📱 Local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9CA3AF"/>
                </a:solidFill>
              </a:defRPr>
            </a:pPr>
            <a:r>
              <a:t>Captures activity</a:t>
            </a:r>
            <a:br/>
            <a:r>
              <a:t>(e.g., 'Coding 2h')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08960" y="2651760"/>
            <a:ext cx="228600" cy="27432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560320" cy="2011680"/>
          </a:xfrm>
          <a:prstGeom prst="roundRect">
            <a:avLst/>
          </a:prstGeom>
          <a:solidFill>
            <a:srgbClr val="1A2F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5544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D1F17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659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🔐 Encrypt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468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9CA3AF"/>
                </a:solidFill>
              </a:defRPr>
            </a:pPr>
            <a:r>
              <a:t>AES-256 with</a:t>
            </a:r>
            <a:br/>
            <a:r>
              <a:t>User's Wallet Key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35040" y="2651760"/>
            <a:ext cx="228600" cy="27432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828800"/>
            <a:ext cx="2560320" cy="2011680"/>
          </a:xfrm>
          <a:prstGeom prst="roundRect">
            <a:avLst/>
          </a:prstGeom>
          <a:solidFill>
            <a:srgbClr val="1A2F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5544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D1F17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☁️ Shelby Upload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9CA3AF"/>
                </a:solidFill>
              </a:defRPr>
            </a:pPr>
            <a:r>
              <a:t>Store encrypted blob</a:t>
            </a:r>
            <a:br/>
            <a:r>
              <a:t>on decentralized nodes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61120" y="2651760"/>
            <a:ext cx="228600" cy="274320"/>
          </a:xfrm>
          <a:prstGeom prst="right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35440" y="1828800"/>
            <a:ext cx="2560320" cy="2011680"/>
          </a:xfrm>
          <a:prstGeom prst="roundRect">
            <a:avLst/>
          </a:prstGeom>
          <a:solidFill>
            <a:srgbClr val="1A2F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0" y="15544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D1F17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96596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⛓️ Aptos 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4688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9CA3AF"/>
                </a:solidFill>
              </a:defRPr>
            </a:pPr>
            <a:r>
              <a:t>Submit blob_id + score</a:t>
            </a:r>
            <a:br/>
            <a:r>
              <a:t>to smart contract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86000" y="4389120"/>
            <a:ext cx="7589520" cy="1097280"/>
          </a:xfrm>
          <a:prstGeom prst="roundRect">
            <a:avLst/>
          </a:prstGeom>
          <a:solidFill>
            <a:srgbClr val="064E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✅ Result: Public Proof, Private Data</a:t>
            </a:r>
          </a:p>
          <a:p>
            <a:pPr algn="ctr">
              <a:defRPr sz="1600">
                <a:solidFill>
                  <a:srgbClr val="34D399"/>
                </a:solidFill>
              </a:defRPr>
            </a:pPr>
            <a:r>
              <a:t>Employers verify work output • Workers keep their privacy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💰 Bounty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CA3AF"/>
                </a:solidFill>
              </a:defRPr>
            </a:pPr>
            <a:r>
              <a:t>Automated Monthly Rewards via Smart Contract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554480"/>
            <a:ext cx="4846320" cy="914400"/>
          </a:xfrm>
          <a:prstGeom prst="roundRect">
            <a:avLst/>
          </a:prstGeom>
          <a:solidFill>
            <a:srgbClr val="1A2F23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0" y="169164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</a:defRPr>
            </a:pPr>
            <a:r>
              <a:t>Monthly Pool: 1000 APT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474720"/>
            <a:ext cx="2743200" cy="2011680"/>
          </a:xfrm>
          <a:prstGeom prst="roundRect">
            <a:avLst/>
          </a:prstGeom>
          <a:solidFill>
            <a:srgbClr val="1A2F23"/>
          </a:solidFill>
          <a:ln w="2540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0C0C0"/>
                </a:solidFill>
              </a:defRPr>
            </a:pPr>
            <a:r>
              <a:t>2nd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480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300 APT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937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(30%)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926080"/>
            <a:ext cx="2743200" cy="2011680"/>
          </a:xfrm>
          <a:prstGeom prst="roundRect">
            <a:avLst/>
          </a:prstGeom>
          <a:solidFill>
            <a:srgbClr val="1A2F23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0175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566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</a:defRPr>
            </a:pPr>
            <a:r>
              <a:t>1st 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9319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500 APT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3891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(50%)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840480"/>
            <a:ext cx="2743200" cy="2011680"/>
          </a:xfrm>
          <a:prstGeom prst="roundRect">
            <a:avLst/>
          </a:prstGeom>
          <a:solidFill>
            <a:srgbClr val="1A2F23"/>
          </a:solidFill>
          <a:ln w="254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39319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/>
            </a:pPr>
            <a:r>
              <a:t>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4805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D7F32"/>
                </a:solidFill>
              </a:defRPr>
            </a:pPr>
            <a:r>
              <a:t>3rd Place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846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200 APT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53035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CA3AF"/>
                </a:solidFill>
              </a:defRPr>
            </a:pPr>
            <a:r>
              <a:t>(20%)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⚡ Code is Law. Payouts are instant and trustless.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🛠️ 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1463040"/>
          </a:xfrm>
          <a:prstGeom prst="roundRect">
            <a:avLst/>
          </a:prstGeom>
          <a:solidFill>
            <a:srgbClr val="1A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🖥️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Angular 18 + Electron + TailwindCSS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Beautiful desktop app with green theme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486400" cy="1463040"/>
          </a:xfrm>
          <a:prstGeom prst="roundRect">
            <a:avLst/>
          </a:prstGeom>
          <a:solidFill>
            <a:srgbClr val="1A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⛓️ Blockchain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Aptos Move (Testnet)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Smart contracts for proofs &amp; rewards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5486400" cy="1463040"/>
          </a:xfrm>
          <a:prstGeom prst="roundRect">
            <a:avLst/>
          </a:prstGeom>
          <a:solidFill>
            <a:srgbClr val="1A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546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☁️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Shelby Protocol SDK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Decentralized encrypted data storage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017520"/>
            <a:ext cx="5486400" cy="1463040"/>
          </a:xfrm>
          <a:prstGeom prst="roundRect">
            <a:avLst/>
          </a:prstGeom>
          <a:solidFill>
            <a:srgbClr val="1A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1546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🔐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566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AES-256-GCM Encryption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9319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Military-grade local encryption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54879"/>
            <a:ext cx="5486400" cy="1463040"/>
          </a:xfrm>
          <a:prstGeom prst="roundRect">
            <a:avLst/>
          </a:prstGeom>
          <a:solidFill>
            <a:srgbClr val="1A2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892039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💾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0351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SQLite (Local)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7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Fast local caching &amp; offline support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5486400"/>
            <a:ext cx="9418320" cy="822960"/>
          </a:xfrm>
          <a:prstGeom prst="roundRect">
            <a:avLst/>
          </a:prstGeom>
          <a:solidFill>
            <a:srgbClr val="1A2F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56235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0B981"/>
                </a:solidFill>
              </a:defRPr>
            </a:pPr>
            <a:r>
              <a:t>📜 Smart Contract (Aptos Testnet)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0x745fe21b1f69dcb88e325f4fc3f3a3a0bd4bfbb03e62aabbb34b7be305fd9365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🗺️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103327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103120" y="3063240"/>
            <a:ext cx="320040" cy="3200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Q4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2743200" cy="2011680"/>
          </a:xfrm>
          <a:prstGeom prst="roundRect">
            <a:avLst/>
          </a:prstGeom>
          <a:solidFill>
            <a:srgbClr val="1A2F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7947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🚀 Beta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2519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CA3AF"/>
                </a:solidFill>
              </a:defRPr>
            </a:pPr>
            <a:r>
              <a:t>Launch on Aptos Mainnet</a:t>
            </a:r>
            <a:br/>
            <a:r>
              <a:t>First 1000 users onboarding</a:t>
            </a:r>
          </a:p>
        </p:txBody>
      </p:sp>
      <p:sp>
        <p:nvSpPr>
          <p:cNvPr id="9" name="Oval 8"/>
          <p:cNvSpPr/>
          <p:nvPr/>
        </p:nvSpPr>
        <p:spPr>
          <a:xfrm>
            <a:off x="5760720" y="3063240"/>
            <a:ext cx="320040" cy="3200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468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Q1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657600"/>
            <a:ext cx="2743200" cy="2011680"/>
          </a:xfrm>
          <a:prstGeom prst="roundRect">
            <a:avLst/>
          </a:prstGeom>
          <a:solidFill>
            <a:srgbClr val="1A2F23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37947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💹 Data Marketplace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42519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CA3AF"/>
                </a:solidFill>
              </a:defRPr>
            </a:pPr>
            <a:r>
              <a:t>Sell anonymized data to AI companies</a:t>
            </a:r>
            <a:br/>
            <a:r>
              <a:t>via Shelby Protocol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0" y="3063240"/>
            <a:ext cx="320040" cy="32004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4688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0A5FA"/>
                </a:solidFill>
              </a:defRPr>
            </a:pPr>
            <a:r>
              <a:t>Q2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657600"/>
            <a:ext cx="2743200" cy="2011680"/>
          </a:xfrm>
          <a:prstGeom prst="roundRect">
            <a:avLst/>
          </a:prstGeom>
          <a:solidFill>
            <a:srgbClr val="1A2F23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7947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🏢 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519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9CA3AF"/>
                </a:solidFill>
              </a:defRPr>
            </a:pPr>
            <a:r>
              <a:t>Organization &amp; Team Dashboards</a:t>
            </a:r>
            <a:br/>
            <a:r>
              <a:t>B2B features &amp; integrations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🙏 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10B981"/>
                </a:solidFill>
              </a:defRPr>
            </a:pPr>
            <a:r>
              <a:t>WorkChain: Make Work Fun Again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474720"/>
            <a:ext cx="6675120" cy="1828800"/>
          </a:xfrm>
          <a:prstGeom prst="roundRect">
            <a:avLst/>
          </a:prstGeom>
          <a:solidFill>
            <a:srgbClr val="1A2F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0" y="3657600"/>
            <a:ext cx="6126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🔗 GitHub</a:t>
            </a:r>
          </a:p>
          <a:p>
            <a:pPr>
              <a:spcAft>
                <a:spcPts val="1200"/>
              </a:spcAft>
              <a:defRPr sz="1400">
                <a:solidFill>
                  <a:srgbClr val="9CA3AF"/>
                </a:solidFill>
              </a:defRPr>
            </a:pPr>
            <a:r>
              <a:t>github.com/PankajAjmera1/WorkChain-Tracker</a:t>
            </a:r>
          </a:p>
          <a:p>
            <a:pPr>
              <a:defRPr sz="1800" b="1">
                <a:solidFill>
                  <a:srgbClr val="FFFFFF"/>
                </a:solidFill>
              </a:defRPr>
            </a:pPr>
            <a:r>
              <a:t>📜 Smart Contract (Aptos Testnet)</a:t>
            </a:r>
          </a:p>
          <a:p>
            <a:pPr>
              <a:defRPr sz="1400">
                <a:solidFill>
                  <a:srgbClr val="9CA3AF"/>
                </a:solidFill>
              </a:defRPr>
            </a:pPr>
            <a:r>
              <a:t>0x745fe21b...305fd9365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CA3AF"/>
                </a:solidFill>
              </a:defRPr>
            </a:pPr>
            <a:r>
              <a:t>Built with ❤️ on Aptos &amp; Shelby Protocol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